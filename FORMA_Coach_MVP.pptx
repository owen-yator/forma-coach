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3" r:id="rId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4" d="100"/>
          <a:sy n="64" d="100"/>
        </p:scale>
        <p:origin x="840" y="4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11/28/2025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11/28/2025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11/28/2025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11/28/2025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32347" y="2335786"/>
            <a:ext cx="8229600" cy="1143000"/>
          </a:xfrm>
        </p:spPr>
        <p:txBody>
          <a:bodyPr/>
          <a:lstStyle/>
          <a:p>
            <a:r>
              <a:rPr dirty="0">
                <a:latin typeface="Times New Roman" panose="02020603050405020304" pitchFamily="18" charset="0"/>
                <a:cs typeface="Times New Roman" panose="02020603050405020304" pitchFamily="18" charset="0"/>
              </a:rPr>
              <a:t>FORMA Coach</a:t>
            </a:r>
          </a:p>
        </p:txBody>
      </p:sp>
      <p:sp>
        <p:nvSpPr>
          <p:cNvPr id="3" name="Content Placeholder 2"/>
          <p:cNvSpPr>
            <a:spLocks noGrp="1"/>
          </p:cNvSpPr>
          <p:nvPr>
            <p:ph idx="1"/>
          </p:nvPr>
        </p:nvSpPr>
        <p:spPr>
          <a:xfrm>
            <a:off x="771993" y="3429000"/>
            <a:ext cx="8229600" cy="1143001"/>
          </a:xfrm>
        </p:spPr>
        <p:txBody>
          <a:bodyPr/>
          <a:lstStyle/>
          <a:p>
            <a:pPr marL="0" indent="0">
              <a:buNone/>
            </a:pPr>
            <a:r>
              <a:rPr lang="en-US" dirty="0"/>
              <a:t>   AI-Powered Coaching Assistant Built with </a:t>
            </a:r>
            <a:r>
              <a:rPr lang="en-US" dirty="0" err="1"/>
              <a:t>Genkit</a:t>
            </a:r>
            <a:r>
              <a:rPr lang="en-US" dirty="0"/>
              <a:t>, Google GenAI, and Chroma</a:t>
            </a:r>
            <a:endParaRPr dirty="0"/>
          </a:p>
        </p:txBody>
      </p:sp>
      <p:pic>
        <p:nvPicPr>
          <p:cNvPr id="5" name="Picture 4">
            <a:extLst>
              <a:ext uri="{FF2B5EF4-FFF2-40B4-BE49-F238E27FC236}">
                <a16:creationId xmlns:a16="http://schemas.microsoft.com/office/drawing/2014/main" id="{5F86F77A-3FA9-E193-BC3F-FD97D6123C5C}"/>
              </a:ext>
            </a:extLst>
          </p:cNvPr>
          <p:cNvPicPr>
            <a:picLocks noChangeAspect="1"/>
          </p:cNvPicPr>
          <p:nvPr/>
        </p:nvPicPr>
        <p:blipFill>
          <a:blip r:embed="rId2"/>
          <a:stretch>
            <a:fillRect/>
          </a:stretch>
        </p:blipFill>
        <p:spPr>
          <a:xfrm>
            <a:off x="232347" y="284813"/>
            <a:ext cx="3125450" cy="224559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392186" y="72376"/>
            <a:ext cx="8229600" cy="1143000"/>
          </a:xfrm>
        </p:spPr>
        <p:txBody>
          <a:bodyPr/>
          <a:lstStyle/>
          <a:p>
            <a:r>
              <a:rPr b="1" dirty="0"/>
              <a:t>Problem Statement</a:t>
            </a:r>
          </a:p>
        </p:txBody>
      </p:sp>
      <p:sp>
        <p:nvSpPr>
          <p:cNvPr id="3" name="Content Placeholder 2"/>
          <p:cNvSpPr>
            <a:spLocks noGrp="1"/>
          </p:cNvSpPr>
          <p:nvPr>
            <p:ph idx="1"/>
          </p:nvPr>
        </p:nvSpPr>
        <p:spPr>
          <a:xfrm>
            <a:off x="801974" y="936348"/>
            <a:ext cx="8229600" cy="4525963"/>
          </a:xfrm>
        </p:spPr>
        <p:txBody>
          <a:bodyPr>
            <a:normAutofit/>
          </a:bodyPr>
          <a:lstStyle/>
          <a:p>
            <a:pPr marL="0" indent="0">
              <a:buNone/>
            </a:pPr>
            <a:r>
              <a:rPr lang="en-US" sz="2800" dirty="0"/>
              <a:t>Many people often struggle to access personalized guidance, while traditional coaching services remain expensive and limited in availability. This accessibility gap leaves many users without the tailored support they need to grow effectively. AI-driven coaching can bridge this gap by providing affordable, scalable, and personalized learning assistance.</a:t>
            </a:r>
            <a:endParaRPr sz="2800" dirty="0"/>
          </a:p>
        </p:txBody>
      </p:sp>
      <p:pic>
        <p:nvPicPr>
          <p:cNvPr id="5" name="Picture 4">
            <a:extLst>
              <a:ext uri="{FF2B5EF4-FFF2-40B4-BE49-F238E27FC236}">
                <a16:creationId xmlns:a16="http://schemas.microsoft.com/office/drawing/2014/main" id="{B561568B-EFDF-9BEC-4AED-80DD0F771A23}"/>
              </a:ext>
            </a:extLst>
          </p:cNvPr>
          <p:cNvPicPr>
            <a:picLocks noChangeAspect="1"/>
          </p:cNvPicPr>
          <p:nvPr/>
        </p:nvPicPr>
        <p:blipFill>
          <a:blip r:embed="rId2"/>
          <a:stretch>
            <a:fillRect/>
          </a:stretch>
        </p:blipFill>
        <p:spPr>
          <a:xfrm>
            <a:off x="5816184" y="4243076"/>
            <a:ext cx="2805602" cy="167857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Objectives</a:t>
            </a:r>
          </a:p>
        </p:txBody>
      </p:sp>
      <p:sp>
        <p:nvSpPr>
          <p:cNvPr id="5" name="Rectangle 2">
            <a:extLst>
              <a:ext uri="{FF2B5EF4-FFF2-40B4-BE49-F238E27FC236}">
                <a16:creationId xmlns:a16="http://schemas.microsoft.com/office/drawing/2014/main" id="{45D2025F-19B3-31B1-BF4C-E6A136A16A28}"/>
              </a:ext>
            </a:extLst>
          </p:cNvPr>
          <p:cNvSpPr>
            <a:spLocks noGrp="1" noChangeArrowheads="1"/>
          </p:cNvSpPr>
          <p:nvPr>
            <p:ph idx="1"/>
          </p:nvPr>
        </p:nvSpPr>
        <p:spPr bwMode="auto">
          <a:xfrm>
            <a:off x="1146748" y="1882333"/>
            <a:ext cx="7187784"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KE" altLang="en-KE" sz="1800" b="1" i="0" u="none" strike="noStrike" cap="none" normalizeH="0" baseline="0" dirty="0">
                <a:ln>
                  <a:noFill/>
                </a:ln>
                <a:solidFill>
                  <a:schemeClr val="tx1"/>
                </a:solidFill>
                <a:effectLst/>
                <a:latin typeface="Arial" panose="020B0604020202020204" pitchFamily="34" charset="0"/>
              </a:rPr>
              <a:t>Develop an AI Conversational Coach</a:t>
            </a:r>
            <a:r>
              <a:rPr lang="en-ZW" altLang="en-KE" sz="1800" dirty="0">
                <a:latin typeface="Arial" panose="020B0604020202020204" pitchFamily="34" charset="0"/>
              </a:rPr>
              <a:t>. </a:t>
            </a:r>
            <a:r>
              <a:rPr kumimoji="0" lang="en-KE" altLang="en-KE" sz="1800" b="0" i="0" u="none" strike="noStrike" cap="none" normalizeH="0" baseline="0" dirty="0">
                <a:ln>
                  <a:noFill/>
                </a:ln>
                <a:solidFill>
                  <a:schemeClr val="tx1"/>
                </a:solidFill>
                <a:effectLst/>
                <a:latin typeface="Arial" panose="020B0604020202020204" pitchFamily="34" charset="0"/>
              </a:rPr>
              <a:t>Create an intelligent, natural-language coaching assistant capable</a:t>
            </a:r>
            <a:endParaRPr kumimoji="0" lang="en-ZW" altLang="en-KE"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KE" altLang="en-KE" sz="1800" b="0" i="0" u="none" strike="noStrike" cap="none" normalizeH="0" baseline="0" dirty="0">
                <a:ln>
                  <a:noFill/>
                </a:ln>
                <a:solidFill>
                  <a:schemeClr val="tx1"/>
                </a:solidFill>
                <a:effectLst/>
                <a:latin typeface="Arial" panose="020B0604020202020204" pitchFamily="34" charset="0"/>
              </a:rPr>
              <a:t> of delivering personalized guidance and real-time support.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KE" altLang="en-KE" sz="1800" b="1" i="0" u="none" strike="noStrike" cap="none" normalizeH="0" baseline="0" dirty="0">
                <a:ln>
                  <a:noFill/>
                </a:ln>
                <a:solidFill>
                  <a:schemeClr val="tx1"/>
                </a:solidFill>
                <a:effectLst/>
                <a:latin typeface="Arial" panose="020B0604020202020204" pitchFamily="34" charset="0"/>
              </a:rPr>
              <a:t>Implement Knowledge Base Integration</a:t>
            </a:r>
            <a:r>
              <a:rPr lang="en-ZW" altLang="en-KE" sz="1800" dirty="0">
                <a:latin typeface="Arial" panose="020B0604020202020204" pitchFamily="34" charset="0"/>
              </a:rPr>
              <a:t>. </a:t>
            </a:r>
            <a:r>
              <a:rPr kumimoji="0" lang="en-KE" altLang="en-KE" sz="1800" b="0" i="0" u="none" strike="noStrike" cap="none" normalizeH="0" baseline="0" dirty="0">
                <a:ln>
                  <a:noFill/>
                </a:ln>
                <a:solidFill>
                  <a:schemeClr val="tx1"/>
                </a:solidFill>
                <a:effectLst/>
                <a:latin typeface="Arial" panose="020B0604020202020204" pitchFamily="34" charset="0"/>
              </a:rPr>
              <a:t>Connect Chroma</a:t>
            </a:r>
            <a:r>
              <a:rPr kumimoji="0" lang="en-ZW" altLang="en-KE" sz="1800" b="0" i="0" u="none" strike="noStrike" cap="none" normalizeH="0" baseline="0" dirty="0">
                <a:ln>
                  <a:noFill/>
                </a:ln>
                <a:solidFill>
                  <a:schemeClr val="tx1"/>
                </a:solidFill>
                <a:effectLst/>
                <a:latin typeface="Arial" panose="020B0604020202020204" pitchFamily="34" charset="0"/>
              </a:rPr>
              <a:t> </a:t>
            </a:r>
            <a:r>
              <a:rPr kumimoji="0" lang="en-KE" altLang="en-KE" sz="1800" b="0" i="0" u="none" strike="noStrike" cap="none" normalizeH="0" baseline="0" dirty="0">
                <a:ln>
                  <a:noFill/>
                </a:ln>
                <a:solidFill>
                  <a:schemeClr val="tx1"/>
                </a:solidFill>
                <a:effectLst/>
                <a:latin typeface="Arial" panose="020B0604020202020204" pitchFamily="34" charset="0"/>
              </a:rPr>
              <a:t>and structured content to enable context-aware responses, accurate recall, and enriched coaching insights.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KE" altLang="en-KE" sz="1800" b="1" i="0" u="none" strike="noStrike" cap="none" normalizeH="0" baseline="0" dirty="0">
                <a:ln>
                  <a:noFill/>
                </a:ln>
                <a:solidFill>
                  <a:schemeClr val="tx1"/>
                </a:solidFill>
                <a:effectLst/>
                <a:latin typeface="Arial" panose="020B0604020202020204" pitchFamily="34" charset="0"/>
              </a:rPr>
              <a:t>Build a Modular Workflow System</a:t>
            </a:r>
            <a:r>
              <a:rPr lang="en-ZW" altLang="en-KE" sz="1800" dirty="0">
                <a:latin typeface="Arial" panose="020B0604020202020204" pitchFamily="34" charset="0"/>
              </a:rPr>
              <a:t>. </a:t>
            </a:r>
            <a:r>
              <a:rPr kumimoji="0" lang="en-KE" altLang="en-KE" sz="1800" b="0" i="0" u="none" strike="noStrike" cap="none" normalizeH="0" baseline="0" dirty="0">
                <a:ln>
                  <a:noFill/>
                </a:ln>
                <a:solidFill>
                  <a:schemeClr val="tx1"/>
                </a:solidFill>
                <a:effectLst/>
                <a:latin typeface="Arial" panose="020B0604020202020204" pitchFamily="34" charset="0"/>
              </a:rPr>
              <a:t>Utilize </a:t>
            </a:r>
            <a:r>
              <a:rPr kumimoji="0" lang="en-KE" altLang="en-KE" sz="1800" b="0" i="0" u="none" strike="noStrike" cap="none" normalizeH="0" baseline="0" dirty="0" err="1">
                <a:ln>
                  <a:noFill/>
                </a:ln>
                <a:solidFill>
                  <a:schemeClr val="tx1"/>
                </a:solidFill>
                <a:effectLst/>
                <a:latin typeface="Arial" panose="020B0604020202020204" pitchFamily="34" charset="0"/>
              </a:rPr>
              <a:t>Genkit</a:t>
            </a:r>
            <a:r>
              <a:rPr kumimoji="0" lang="en-KE" altLang="en-KE" sz="1800" b="0" i="0" u="none" strike="noStrike" cap="none" normalizeH="0" baseline="0" dirty="0">
                <a:ln>
                  <a:noFill/>
                </a:ln>
                <a:solidFill>
                  <a:schemeClr val="tx1"/>
                </a:solidFill>
                <a:effectLst/>
                <a:latin typeface="Arial" panose="020B0604020202020204" pitchFamily="34" charset="0"/>
              </a:rPr>
              <a:t> flows to design flexible, reusable, and extensible coaching workflows that support multiple use cases and domains.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System Architecture</a:t>
            </a:r>
          </a:p>
        </p:txBody>
      </p:sp>
      <p:sp>
        <p:nvSpPr>
          <p:cNvPr id="3" name="Content Placeholder 2"/>
          <p:cNvSpPr>
            <a:spLocks noGrp="1"/>
          </p:cNvSpPr>
          <p:nvPr>
            <p:ph idx="1"/>
          </p:nvPr>
        </p:nvSpPr>
        <p:spPr>
          <a:xfrm>
            <a:off x="457200" y="1195465"/>
            <a:ext cx="8229600" cy="4860561"/>
          </a:xfrm>
        </p:spPr>
        <p:txBody>
          <a:bodyPr>
            <a:normAutofit lnSpcReduction="10000"/>
          </a:bodyPr>
          <a:lstStyle/>
          <a:p>
            <a:pPr>
              <a:buFont typeface="+mj-lt"/>
              <a:buAutoNum type="arabicPeriod"/>
            </a:pPr>
            <a:endParaRPr lang="en-ZW" sz="1600" dirty="0"/>
          </a:p>
          <a:p>
            <a:pPr>
              <a:buFont typeface="+mj-lt"/>
              <a:buAutoNum type="arabicPeriod"/>
            </a:pPr>
            <a:r>
              <a:rPr lang="en-US" sz="1600" b="1" dirty="0"/>
              <a:t>User</a:t>
            </a:r>
            <a:br>
              <a:rPr lang="en-US" sz="1600" dirty="0"/>
            </a:br>
            <a:r>
              <a:rPr lang="en-US" sz="1600" dirty="0"/>
              <a:t>The user initiates a request or asks a coaching question.</a:t>
            </a:r>
            <a:endParaRPr lang="en-ZW" sz="1600" dirty="0"/>
          </a:p>
          <a:p>
            <a:pPr>
              <a:buFont typeface="+mj-lt"/>
              <a:buAutoNum type="arabicPeriod"/>
            </a:pPr>
            <a:r>
              <a:rPr lang="en-US" sz="1600" b="1" dirty="0"/>
              <a:t>Conversational Interface</a:t>
            </a:r>
            <a:br>
              <a:rPr lang="en-US" sz="1600" dirty="0"/>
            </a:br>
            <a:r>
              <a:rPr lang="en-US" sz="1600" dirty="0"/>
              <a:t>Captures the query, formats it, and sends it to the processing pipeline.</a:t>
            </a:r>
          </a:p>
          <a:p>
            <a:pPr>
              <a:buFont typeface="+mj-lt"/>
              <a:buAutoNum type="arabicPeriod"/>
            </a:pPr>
            <a:r>
              <a:rPr lang="en-US" sz="1600" b="1" dirty="0"/>
              <a:t>Workflow Engine (</a:t>
            </a:r>
            <a:r>
              <a:rPr lang="en-US" sz="1600" b="1" dirty="0" err="1"/>
              <a:t>Genkit</a:t>
            </a:r>
            <a:r>
              <a:rPr lang="en-US" sz="1600" b="1" dirty="0"/>
              <a:t>)</a:t>
            </a:r>
            <a:br>
              <a:rPr lang="en-US" sz="1600" dirty="0"/>
            </a:br>
            <a:r>
              <a:rPr lang="en-US" sz="1600" dirty="0"/>
              <a:t>Orchestrates the entire process, selecting relevant flows, managing context, and coordinating tools.</a:t>
            </a:r>
          </a:p>
          <a:p>
            <a:pPr>
              <a:buFont typeface="+mj-lt"/>
              <a:buAutoNum type="arabicPeriod"/>
            </a:pPr>
            <a:r>
              <a:rPr lang="en-US" sz="1600" b="1" dirty="0"/>
              <a:t>Knowledge Base </a:t>
            </a:r>
            <a:br>
              <a:rPr lang="en-US" sz="1600" dirty="0"/>
            </a:br>
            <a:r>
              <a:rPr lang="en-US" sz="1600" dirty="0"/>
              <a:t>Retrieves domain-specific information, stored embeddings, and contextual knowledge to enhance response accuracy.</a:t>
            </a:r>
          </a:p>
          <a:p>
            <a:pPr>
              <a:buFont typeface="+mj-lt"/>
              <a:buAutoNum type="arabicPeriod"/>
            </a:pPr>
            <a:r>
              <a:rPr lang="en-US" sz="1600" b="1" dirty="0"/>
              <a:t>Gemini Model (Google GenAI)</a:t>
            </a:r>
            <a:br>
              <a:rPr lang="en-US" sz="1600" dirty="0"/>
            </a:br>
            <a:r>
              <a:rPr lang="en-US" sz="1600" dirty="0"/>
              <a:t>Processes user intent, combines workflow output with retrieved knowledge, and generates a refined AI response.</a:t>
            </a:r>
          </a:p>
          <a:p>
            <a:pPr>
              <a:buFont typeface="+mj-lt"/>
              <a:buAutoNum type="arabicPeriod"/>
            </a:pPr>
            <a:r>
              <a:rPr lang="en-US" sz="1600" b="1" dirty="0"/>
              <a:t>Response Generation Layer</a:t>
            </a:r>
            <a:br>
              <a:rPr lang="en-US" sz="1600" dirty="0"/>
            </a:br>
            <a:r>
              <a:rPr lang="en-US" sz="1600" dirty="0"/>
              <a:t>Performs final formatting, summarization, safety checks, and prepares the message for delivery.</a:t>
            </a:r>
          </a:p>
          <a:p>
            <a:pPr>
              <a:buFont typeface="+mj-lt"/>
              <a:buAutoNum type="arabicPeriod"/>
            </a:pPr>
            <a:r>
              <a:rPr lang="en-US" sz="1600" b="1" dirty="0"/>
              <a:t>User</a:t>
            </a:r>
            <a:br>
              <a:rPr lang="en-US" sz="1600" dirty="0"/>
            </a:br>
            <a:r>
              <a:rPr lang="en-US" sz="1600" dirty="0"/>
              <a:t>Receives a clear, personalized, and context-aware coaching response.</a:t>
            </a:r>
            <a:endParaRPr lang="en-ZW"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B0F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normAutofit/>
          </a:bodyPr>
          <a:lstStyle/>
          <a:p>
            <a:pPr marL="0" indent="0">
              <a:buNone/>
            </a:pPr>
            <a:r>
              <a:rPr lang="en-US" sz="2000" dirty="0"/>
              <a:t>This project delivers a scalable, modern, AI-driven coaching assistant MVP built on robust technologies such as </a:t>
            </a:r>
            <a:r>
              <a:rPr lang="en-US" sz="2000" dirty="0" err="1"/>
              <a:t>Genkit</a:t>
            </a:r>
            <a:r>
              <a:rPr lang="en-US" sz="2000" dirty="0"/>
              <a:t>, Google Gemini, and </a:t>
            </a:r>
            <a:r>
              <a:rPr lang="en-US" sz="2000" dirty="0" err="1"/>
              <a:t>ChromaDB</a:t>
            </a:r>
            <a:r>
              <a:rPr lang="en-US" sz="2000" dirty="0"/>
              <a:t>. The system not only provides intelligent, personalized guidance but is also architected for seamless future expansion—whether adding new coaching domains, integrating more advanced workflows, or scaling to support thousands of users. With its modular design, extensible knowledge base, and powerful conversational engine, the solution establishes a strong foundation for a next-generation digital coaching platform capable of evolving alongside user needs and emerging AI capabilities.</a:t>
            </a:r>
            <a:endParaRPr sz="2000" dirty="0"/>
          </a:p>
        </p:txBody>
      </p:sp>
      <p:pic>
        <p:nvPicPr>
          <p:cNvPr id="5" name="Picture 4">
            <a:extLst>
              <a:ext uri="{FF2B5EF4-FFF2-40B4-BE49-F238E27FC236}">
                <a16:creationId xmlns:a16="http://schemas.microsoft.com/office/drawing/2014/main" id="{47B68DC7-6B87-D289-A742-591C85C2BCB1}"/>
              </a:ext>
            </a:extLst>
          </p:cNvPr>
          <p:cNvPicPr>
            <a:picLocks noChangeAspect="1"/>
          </p:cNvPicPr>
          <p:nvPr/>
        </p:nvPicPr>
        <p:blipFill>
          <a:blip r:embed="rId2"/>
          <a:stretch>
            <a:fillRect/>
          </a:stretch>
        </p:blipFill>
        <p:spPr>
          <a:xfrm>
            <a:off x="3867462" y="4437088"/>
            <a:ext cx="3953016" cy="214627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81</TotalTime>
  <Words>376</Words>
  <Application>Microsoft Office PowerPoint</Application>
  <PresentationFormat>On-screen Show (4:3)</PresentationFormat>
  <Paragraphs>20</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Times New Roman</vt:lpstr>
      <vt:lpstr>Office Theme</vt:lpstr>
      <vt:lpstr>FORMA Coach</vt:lpstr>
      <vt:lpstr>Problem Statement</vt:lpstr>
      <vt:lpstr>Objectives</vt:lpstr>
      <vt:lpstr>System Architecture</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Owen Yator</cp:lastModifiedBy>
  <cp:revision>2</cp:revision>
  <dcterms:created xsi:type="dcterms:W3CDTF">2013-01-27T09:14:16Z</dcterms:created>
  <dcterms:modified xsi:type="dcterms:W3CDTF">2025-11-28T18:23:11Z</dcterms:modified>
  <cp:category/>
</cp:coreProperties>
</file>